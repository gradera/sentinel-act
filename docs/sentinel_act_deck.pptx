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283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deck/icon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99" y="8606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659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Act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13232" y="2909191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regulatory text to a defensible, auditable compliance verdict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3594991"/>
            <a:ext cx="502920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42976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Securities Market TechSprint @ GFF 2026
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 — Agentic Compliance
</a:t>
            </a: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Gradera Sentinels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Kranthi (Vice President, Software Engineering)  ·  Saritha (Tech Lead)  ·  Mahesh (Sr. Software Engineer)  ·  Rohith (AI/ML Engineer)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 regulations are issued as text. Compliance must operate as auditable logic.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309360" cy="4572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deck/icon_contract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00684" y="208940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933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Compliance Management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operational challenge is proving compliance every day: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each regulatory obligation to evidence of fulfilment.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gaps and exceptions before an auditor or regulator discovers them.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 traceable audit trail as regulations change over time.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all of this with limited compliance resources, especially at smaller intermediaries.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5166360"/>
            <a:ext cx="55778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77240" y="53035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bottleneck isn't reading circulars — legal teams already can. It's proving, obligation by obligation, that real policies and processes hold up.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040880" y="169164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223760" y="180794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223760" y="2585186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created by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amendment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040880" y="3395713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223760" y="350600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40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,900</a:t>
            </a: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7223760" y="42832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stockbrokers &amp; investment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advisers affected market-wide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040880" y="5097780"/>
            <a:ext cx="4663440" cy="1165860"/>
          </a:xfrm>
          <a:prstGeom prst="roundRect">
            <a:avLst>
              <a:gd name="adj" fmla="val 5926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223760" y="5066902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manual interpretation per circular, today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DIFFICULTY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Mentioning a rule isn't the same as proving you follow it.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circular is not the bottleneck. Judging whether real evidence satisfies it, 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 w="19050">
            <a:solidFill>
              <a:srgbClr val="C14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C144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deck/icon_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49631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423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compliant. Isn't.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Broker's Risk Policy v3.pdf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4747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firm shall monitor pledge value in accordance with applicable regulatory requirements.”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" y="4480560"/>
            <a:ext cx="4617720" cy="0"/>
          </a:xfrm>
          <a:prstGeom prst="line">
            <a:avLst/>
          </a:prstGeom>
          <a:noFill/>
          <a:ln w="12700">
            <a:solidFill>
              <a:srgbClr val="C1444D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77240" y="466344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</a:t>
            </a: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obligation.
</a:t>
            </a:r>
            <a:r>
              <a:rPr lang="en-US" sz="13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no daily execution, no log, no evidence it actually happens.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20574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 w="19050">
            <a:solidFill>
              <a:srgbClr val="3FA7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629400" y="2377440"/>
            <a:ext cx="594360" cy="594360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/home/claude/deck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496312"/>
            <a:ext cx="356616" cy="3566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06640" y="2423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proves it.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62940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Pledge Monitoring Log — CSV export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629400" y="34747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rows per client, per trading day, with pledge value vs. threshold and reconciliation status.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629400" y="4480560"/>
            <a:ext cx="4617720" cy="0"/>
          </a:xfrm>
          <a:prstGeom prst="line">
            <a:avLst/>
          </a:prstGeom>
          <a:noFill/>
          <a:ln w="12700">
            <a:solidFill>
              <a:srgbClr val="3FA79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629400" y="466344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</a:t>
            </a: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frequency, and traceability —
</a:t>
            </a:r>
            <a:r>
              <a:rPr lang="en-US" sz="13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the clause requires as evidence.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architecture: nine stages, one governed pipeline.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Regulatory Knowledge Graph, monitored and updated by specialized agents, governed by tiered human oversight.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26948" y="3044952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deck/icon_search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24240" y="3142244"/>
            <a:ext cx="317480" cy="31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40325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1508760" y="3451860"/>
            <a:ext cx="222885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731645" y="29260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001393" y="3044952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deck/icon_robot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098685" y="3142244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94485" y="40325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2783205" y="3451860"/>
            <a:ext cx="222885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006090" y="29260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275838" y="3044952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deck/icon_check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3373130" y="3142244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68930" y="40325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&amp;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30" dirty="0"/>
          </a:p>
        </p:txBody>
      </p:sp>
      <p:sp>
        <p:nvSpPr>
          <p:cNvPr id="20" name="Shape 15"/>
          <p:cNvSpPr/>
          <p:nvPr/>
        </p:nvSpPr>
        <p:spPr>
          <a:xfrm>
            <a:off x="4057650" y="3451860"/>
            <a:ext cx="222885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280535" y="29260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4550283" y="3044952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/home/claude/deck/icon_sitemap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4647575" y="3142244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143375" y="40325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830" dirty="0"/>
          </a:p>
        </p:txBody>
      </p:sp>
      <p:sp>
        <p:nvSpPr>
          <p:cNvPr id="25" name="Shape 19"/>
          <p:cNvSpPr/>
          <p:nvPr/>
        </p:nvSpPr>
        <p:spPr>
          <a:xfrm>
            <a:off x="5332095" y="3451860"/>
            <a:ext cx="222885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5554980" y="29260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5824728" y="3044952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/home/claude/deck/icon_clipboar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5922020" y="3142244"/>
            <a:ext cx="317480" cy="317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17820" y="40325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Evidence-to-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Matching</a:t>
            </a:r>
            <a:endParaRPr lang="en-US" sz="830" dirty="0"/>
          </a:p>
        </p:txBody>
      </p:sp>
      <p:sp>
        <p:nvSpPr>
          <p:cNvPr id="30" name="Shape 23"/>
          <p:cNvSpPr/>
          <p:nvPr/>
        </p:nvSpPr>
        <p:spPr>
          <a:xfrm>
            <a:off x="6606540" y="3451860"/>
            <a:ext cx="222885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6829425" y="29260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7099173" y="3044952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/home/claude/deck/icon_chart.png"/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7196465" y="3142244"/>
            <a:ext cx="317480" cy="317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92265" y="40325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830" dirty="0"/>
          </a:p>
        </p:txBody>
      </p:sp>
      <p:sp>
        <p:nvSpPr>
          <p:cNvPr id="35" name="Shape 27"/>
          <p:cNvSpPr/>
          <p:nvPr/>
        </p:nvSpPr>
        <p:spPr>
          <a:xfrm>
            <a:off x="7880985" y="3451860"/>
            <a:ext cx="222885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8"/>
          <p:cNvSpPr/>
          <p:nvPr/>
        </p:nvSpPr>
        <p:spPr>
          <a:xfrm>
            <a:off x="8103870" y="29260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8373618" y="3044952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6" descr="/home/claude/deck/icon_layers.png"/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470910" y="3142244"/>
            <a:ext cx="317480" cy="3174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966710" y="40325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830" dirty="0"/>
          </a:p>
        </p:txBody>
      </p:sp>
      <p:sp>
        <p:nvSpPr>
          <p:cNvPr id="40" name="Shape 31"/>
          <p:cNvSpPr/>
          <p:nvPr/>
        </p:nvSpPr>
        <p:spPr>
          <a:xfrm>
            <a:off x="9155430" y="3451860"/>
            <a:ext cx="222885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2"/>
          <p:cNvSpPr/>
          <p:nvPr/>
        </p:nvSpPr>
        <p:spPr>
          <a:xfrm>
            <a:off x="9378315" y="29260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9648063" y="3044952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7" descr="/home/claude/deck/icon_shield.png"/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9745355" y="3142244"/>
            <a:ext cx="317480" cy="31748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241155" y="40325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</a:t>
            </a:r>
            <a:endParaRPr lang="en-US" sz="830" dirty="0"/>
          </a:p>
        </p:txBody>
      </p:sp>
      <p:sp>
        <p:nvSpPr>
          <p:cNvPr id="45" name="Shape 35"/>
          <p:cNvSpPr/>
          <p:nvPr/>
        </p:nvSpPr>
        <p:spPr>
          <a:xfrm>
            <a:off x="10429875" y="3451860"/>
            <a:ext cx="222885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6"/>
          <p:cNvSpPr/>
          <p:nvPr/>
        </p:nvSpPr>
        <p:spPr>
          <a:xfrm>
            <a:off x="10652760" y="29260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37"/>
          <p:cNvSpPr/>
          <p:nvPr/>
        </p:nvSpPr>
        <p:spPr>
          <a:xfrm>
            <a:off x="10922508" y="3044952"/>
            <a:ext cx="512064" cy="512064"/>
          </a:xfrm>
          <a:prstGeom prst="ellipse">
            <a:avLst/>
          </a:prstGeom>
          <a:solidFill>
            <a:srgbClr val="2A35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8" descr="/home/claude/deck/icon_handshake.png"/>
          <p:cNvPicPr>
            <a:picLocks noChangeAspect="1"/>
          </p:cNvPicPr>
          <p:nvPr/>
        </p:nvPicPr>
        <p:blipFill>
          <a:blip r:embed="rId11">
            <a:lum bright="70000" contrast="-70000"/>
          </a:blip>
          <a:stretch>
            <a:fillRect/>
          </a:stretch>
        </p:blipFill>
        <p:spPr>
          <a:xfrm>
            <a:off x="11019800" y="3142244"/>
            <a:ext cx="317480" cy="31748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10515600" y="40325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</a:t>
            </a:r>
            <a:endParaRPr lang="en-US" sz="830" dirty="0"/>
          </a:p>
        </p:txBody>
      </p:sp>
      <p:sp>
        <p:nvSpPr>
          <p:cNvPr id="50" name="Shape 39"/>
          <p:cNvSpPr/>
          <p:nvPr/>
        </p:nvSpPr>
        <p:spPr>
          <a:xfrm>
            <a:off x="457200" y="48920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0"/>
          <p:cNvSpPr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 by design:  </a:t>
            </a:r>
            <a:r>
              <a:rPr lang="en-US" sz="13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obligation carries valid_from / valid_to alongside recorded_at — the graph can answer what applied as of any past date, not just today.
</a:t>
            </a: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oversight:  </a:t>
            </a:r>
            <a:r>
              <a:rPr lang="en-US" sz="13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changes auto-commit and log; medium-risk needs one reviewer; high-risk / penalty-bearing changes require maker-checker dual sign-off.</a:t>
            </a:r>
            <a:endParaRPr lang="en-US" sz="1300" dirty="0"/>
          </a:p>
        </p:txBody>
      </p:sp>
      <p:sp>
        <p:nvSpPr>
          <p:cNvPr id="52" name="Text 4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Act turns one obligation into a defensible verdict.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30168" cy="4206240"/>
          </a:xfrm>
          <a:prstGeom prst="roundRect">
            <a:avLst>
              <a:gd name="adj" fmla="val 251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deck/icon_sitemap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75538" y="21099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Obligation Interpreter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308152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legal text into concrete, checkable sub-requirements — a monitoring process that exists, runs at the right frequency, is logged, and is retrievable.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05656" y="3794760"/>
            <a:ext cx="146304" cy="0"/>
          </a:xfrm>
          <a:prstGeom prst="line">
            <a:avLst/>
          </a:prstGeom>
          <a:noFill/>
          <a:ln w="2540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270248" y="1691640"/>
            <a:ext cx="3630168" cy="4206240"/>
          </a:xfrm>
          <a:prstGeom prst="roundRect">
            <a:avLst>
              <a:gd name="adj" fmla="val 251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44568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deck/icon_search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4688586" y="210997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4568" y="274320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Evidence Retriever &amp; Matcher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44568" y="3291840"/>
            <a:ext cx="308152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candidate documents per sub-requirement and judges — with explicit reasoning, not a similarity score — whether each one truly satisfies it, not just mentions it.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18704" y="3794760"/>
            <a:ext cx="146304" cy="0"/>
          </a:xfrm>
          <a:prstGeom prst="line">
            <a:avLst/>
          </a:prstGeom>
          <a:noFill/>
          <a:ln w="2540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083296" y="1691640"/>
            <a:ext cx="3630168" cy="4206240"/>
          </a:xfrm>
          <a:prstGeom prst="roundRect">
            <a:avLst>
              <a:gd name="adj" fmla="val 251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357616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deck/icon_clipboar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8501634" y="2109978"/>
            <a:ext cx="352044" cy="3520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57616" y="2743200"/>
            <a:ext cx="3081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Gap Synthesizer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57616" y="3291840"/>
            <a:ext cx="308152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findings into one verdict — satisfied / partial / gap — with a confidence score and a citation. Abstains rather than guesses when evidence is ambiguous.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document. Two verdicts. One is right.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Obligation: daily pledge-value monitoring (Para 46) · Evidence: Broker's Risk Policy v3.pdf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KEYWORD / RAG SEARCH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20340" y="2788920"/>
            <a:ext cx="731520" cy="731520"/>
          </a:xfrm>
          <a:prstGeom prst="ellipse">
            <a:avLst/>
          </a:prstGeom>
          <a:solidFill>
            <a:srgbClr val="C144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deck/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932" y="295351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70332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“Likely satisfied”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429768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is topically relevant — contains the phrase “pledge value monitoring.” Similarity score: high.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210312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309360" y="233172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VERDICT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72500" y="2788920"/>
            <a:ext cx="731520" cy="73152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deck/icon_xcircle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8737092" y="295351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09360" y="370332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“Partial — gap”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675120" y="429768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references the obligation, but no execution log, no frequency evidence, no per-client trail. Confidence: high. Cited to Para 46(3).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AUDITABILITY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regulator could actually trust this.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deck/icon_clipboar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09244" y="21808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299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 chain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450592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shows obligation → sub-requirements → evidence considered → why accepted or rejected.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deck/icon_warning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569964" y="218084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0299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 abstention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78040" y="2450592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verdicts are flagged for human review, never silently asserted.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40233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8580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deck/icon_sitemap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809244" y="437540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2245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 audit trail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4645152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what applied as of any past date — not just today's snapshot.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40233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44652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deck/icon_handshake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6569964" y="437540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2245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maker-checker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78040" y="4645152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High-risk, penalty-bearing changes require two independent reviewers, mirroring SEBI's own segregation of duties.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today, market infrastructure tomorrow.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deck/icon_chart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560070" y="18859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208483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intermediary, tiered by obligation volume, entity size, and corpora tracked.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953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deck/icon_chart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560070" y="3056382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9352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expand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3255264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corpus (stockbrokers) and one scenario (CUSPA); expand to IAs, AMCs, RTAs, MIIs, and other regulators — same reasoning core.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41239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deck/icon_chart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560070" y="4226814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1056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revenue line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4425696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anonymized regulator-facing dashboard on obligation adoption, licensable to SEBI or exchanges.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5294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deck/icon_chart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560070" y="5397246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52760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097280" y="559612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obligation-evidence reasoning and audit history per intermediary — not the LLM calls themselves.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949440" y="178308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722376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223760" y="23774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~1,000+</a:t>
            </a:r>
            <a:endParaRPr lang="en-US" sz="3600" dirty="0"/>
          </a:p>
        </p:txBody>
      </p:sp>
      <p:sp>
        <p:nvSpPr>
          <p:cNvPr id="24" name="Text 18"/>
          <p:cNvSpPr/>
          <p:nvPr/>
        </p:nvSpPr>
        <p:spPr>
          <a:xfrm>
            <a:off x="7223760" y="3063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stockbrokers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223760" y="3520440"/>
            <a:ext cx="420624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7223760" y="36576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~900</a:t>
            </a:r>
            <a:endParaRPr lang="en-US" sz="3600" dirty="0"/>
          </a:p>
        </p:txBody>
      </p:sp>
      <p:sp>
        <p:nvSpPr>
          <p:cNvPr id="27" name="Text 21"/>
          <p:cNvSpPr/>
          <p:nvPr/>
        </p:nvSpPr>
        <p:spPr>
          <a:xfrm>
            <a:off x="722376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investment advisers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7223760" y="4800600"/>
            <a:ext cx="420624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7223760" y="498348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faces this exact judgment call on every circular. Smaller intermediaries, with the least compliance staff, have the most to gain.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one clause. Designed for the whole framework.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6304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deck/icon_shiel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607058" y="220141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protection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474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 close before they become investor harm, not after an audit finding.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28416" y="178308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334256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deck/icon_balance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4478274" y="220141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consistency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57016" y="3474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citable reasoning standard reduces divergent interpretations across similarly situated intermediaries.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99632" y="178308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205472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deck/icon_search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7349490" y="220141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28232" y="3474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regulator-facing view gives SEBI real-time visibility into adoption of new requirements.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70848" y="178308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0076688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deck/icon_layers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20706" y="2201418"/>
            <a:ext cx="352044" cy="3520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53728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99448" y="3474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reasoning core extends to AMCs, RTAs, depositories, MIIs — and other regulators — at near-zero marginal cost per corpus.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TechSprint proof to production pilot.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033272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F178978-2F7B-5D1C-B54A-BA77C6862649}"/>
              </a:ext>
            </a:extLst>
          </p:cNvPr>
          <p:cNvGrpSpPr/>
          <p:nvPr/>
        </p:nvGrpSpPr>
        <p:grpSpPr>
          <a:xfrm>
            <a:off x="-388620" y="1975104"/>
            <a:ext cx="2606040" cy="905256"/>
            <a:chOff x="-388620" y="1975104"/>
            <a:chExt cx="2606040" cy="905256"/>
          </a:xfrm>
        </p:grpSpPr>
        <p:sp>
          <p:nvSpPr>
            <p:cNvPr id="6" name="Shape 4"/>
            <p:cNvSpPr/>
            <p:nvPr/>
          </p:nvSpPr>
          <p:spPr>
            <a:xfrm>
              <a:off x="786384" y="1975104"/>
              <a:ext cx="256032" cy="256032"/>
            </a:xfrm>
            <a:prstGeom prst="ellipse">
              <a:avLst/>
            </a:prstGeom>
            <a:solidFill>
              <a:srgbClr val="F2A93B"/>
            </a:solidFill>
            <a:ln w="254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-388620" y="2423160"/>
              <a:ext cx="2606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41A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Now — TechSprint</a:t>
              </a:r>
              <a:endParaRPr lang="en-US" sz="135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196268" y="2880360"/>
            <a:ext cx="2606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Evidence-to-Obligation Matching, built and demoed live on the CUSPA scenario. Full architecture designed and documented.</a:t>
            </a:r>
            <a:endParaRPr lang="en-US" sz="1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522D41-01A0-C4E8-4958-D27C10ADDFFD}"/>
              </a:ext>
            </a:extLst>
          </p:cNvPr>
          <p:cNvGrpSpPr/>
          <p:nvPr/>
        </p:nvGrpSpPr>
        <p:grpSpPr>
          <a:xfrm>
            <a:off x="3105048" y="1975104"/>
            <a:ext cx="2606040" cy="905256"/>
            <a:chOff x="3055620" y="1975104"/>
            <a:chExt cx="2606040" cy="905256"/>
          </a:xfrm>
        </p:grpSpPr>
        <p:sp>
          <p:nvSpPr>
            <p:cNvPr id="9" name="Shape 7"/>
            <p:cNvSpPr/>
            <p:nvPr/>
          </p:nvSpPr>
          <p:spPr>
            <a:xfrm>
              <a:off x="4230624" y="1975104"/>
              <a:ext cx="256032" cy="256032"/>
            </a:xfrm>
            <a:prstGeom prst="ellipse">
              <a:avLst/>
            </a:prstGeom>
            <a:solidFill>
              <a:srgbClr val="1E2761"/>
            </a:solidFill>
            <a:ln w="254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3055620" y="2423160"/>
              <a:ext cx="2606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50" b="1">
                  <a:solidFill>
                    <a:srgbClr val="141A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Next — Pilot</a:t>
              </a:r>
              <a:endParaRPr lang="en-US" sz="135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3212139" y="2880360"/>
            <a:ext cx="2606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Extraction-at-scale for the full Master Circular; pilot with 1–2 brokers against real (anonymized) policy documents.</a:t>
            </a:r>
            <a:endParaRPr lang="en-US" sz="10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1F0EC3-3FE6-105E-51C2-9D7EE700780F}"/>
              </a:ext>
            </a:extLst>
          </p:cNvPr>
          <p:cNvGrpSpPr/>
          <p:nvPr/>
        </p:nvGrpSpPr>
        <p:grpSpPr>
          <a:xfrm>
            <a:off x="6252724" y="1975104"/>
            <a:ext cx="2606040" cy="905256"/>
            <a:chOff x="6499860" y="1975104"/>
            <a:chExt cx="2606040" cy="905256"/>
          </a:xfrm>
        </p:grpSpPr>
        <p:sp>
          <p:nvSpPr>
            <p:cNvPr id="12" name="Shape 10"/>
            <p:cNvSpPr/>
            <p:nvPr/>
          </p:nvSpPr>
          <p:spPr>
            <a:xfrm>
              <a:off x="7674864" y="1975104"/>
              <a:ext cx="256032" cy="256032"/>
            </a:xfrm>
            <a:prstGeom prst="ellipse">
              <a:avLst/>
            </a:prstGeom>
            <a:solidFill>
              <a:srgbClr val="1E2761"/>
            </a:solidFill>
            <a:ln w="254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6499860" y="2423160"/>
              <a:ext cx="2606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41A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Then — Build-out</a:t>
              </a:r>
              <a:endParaRPr lang="en-US" sz="135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6228010" y="2880360"/>
            <a:ext cx="2606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bitemporal knowledge graph, amendment diff engine, tiered human-in-the-loop console, regulator dashboard.</a:t>
            </a:r>
            <a:endParaRPr lang="en-US" sz="1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FFF94C-5500-FFDC-8485-A0E30E116084}"/>
              </a:ext>
            </a:extLst>
          </p:cNvPr>
          <p:cNvGrpSpPr/>
          <p:nvPr/>
        </p:nvGrpSpPr>
        <p:grpSpPr>
          <a:xfrm>
            <a:off x="9944100" y="1975104"/>
            <a:ext cx="2606040" cy="905256"/>
            <a:chOff x="9944100" y="1975104"/>
            <a:chExt cx="2606040" cy="905256"/>
          </a:xfrm>
        </p:grpSpPr>
        <p:sp>
          <p:nvSpPr>
            <p:cNvPr id="15" name="Shape 13"/>
            <p:cNvSpPr/>
            <p:nvPr/>
          </p:nvSpPr>
          <p:spPr>
            <a:xfrm>
              <a:off x="11119104" y="1975104"/>
              <a:ext cx="256032" cy="256032"/>
            </a:xfrm>
            <a:prstGeom prst="ellipse">
              <a:avLst/>
            </a:prstGeom>
            <a:solidFill>
              <a:srgbClr val="1E2761"/>
            </a:solidFill>
            <a:ln w="254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4"/>
            <p:cNvSpPr/>
            <p:nvPr/>
          </p:nvSpPr>
          <p:spPr>
            <a:xfrm>
              <a:off x="9944100" y="2423160"/>
              <a:ext cx="2606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41A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Later — Expand</a:t>
              </a:r>
              <a:endParaRPr lang="en-US" sz="135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9243882" y="2880360"/>
            <a:ext cx="2606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intermediary categories (AMCs, RTAs, MIIs) and additional regulators (RBI, IRDAI) on the same reasoning core.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you turn regulatory intent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programmable, auditable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logic?”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question posed by the SEBI panel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457200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answered the hardest part of that question first.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· Team Gradera Sentinels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Kranthi · Saritha · Mahesh · Rohith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Act — Gradera Sentinels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1146</Words>
  <Application>Microsoft Office PowerPoint</Application>
  <PresentationFormat>Custom</PresentationFormat>
  <Paragraphs>155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Rohith Krishnakumar</cp:lastModifiedBy>
  <cp:revision>11</cp:revision>
  <dcterms:created xsi:type="dcterms:W3CDTF">2026-07-11T08:31:08Z</dcterms:created>
  <dcterms:modified xsi:type="dcterms:W3CDTF">2026-07-12T13:53:59Z</dcterms:modified>
</cp:coreProperties>
</file>